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media/image1.jpeg" ContentType="image/jpeg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3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5" name="Shape 35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n-lt"/>
        <a:ea typeface="+mn-ea"/>
        <a:cs typeface="+mn-cs"/>
        <a:sym typeface="Arial"/>
      </a:defRPr>
    </a:lvl1pPr>
    <a:lvl2pPr indent="228600" latinLnBrk="0">
      <a:defRPr sz="1400">
        <a:latin typeface="+mn-lt"/>
        <a:ea typeface="+mn-ea"/>
        <a:cs typeface="+mn-cs"/>
        <a:sym typeface="Arial"/>
      </a:defRPr>
    </a:lvl2pPr>
    <a:lvl3pPr indent="457200" latinLnBrk="0">
      <a:defRPr sz="1400">
        <a:latin typeface="+mn-lt"/>
        <a:ea typeface="+mn-ea"/>
        <a:cs typeface="+mn-cs"/>
        <a:sym typeface="Arial"/>
      </a:defRPr>
    </a:lvl3pPr>
    <a:lvl4pPr indent="685800" latinLnBrk="0">
      <a:defRPr sz="1400">
        <a:latin typeface="+mn-lt"/>
        <a:ea typeface="+mn-ea"/>
        <a:cs typeface="+mn-cs"/>
        <a:sym typeface="Arial"/>
      </a:defRPr>
    </a:lvl4pPr>
    <a:lvl5pPr indent="914400" latinLnBrk="0">
      <a:defRPr sz="1400">
        <a:latin typeface="+mn-lt"/>
        <a:ea typeface="+mn-ea"/>
        <a:cs typeface="+mn-cs"/>
        <a:sym typeface="Arial"/>
      </a:defRPr>
    </a:lvl5pPr>
    <a:lvl6pPr indent="1143000" latinLnBrk="0">
      <a:defRPr sz="1400">
        <a:latin typeface="+mn-lt"/>
        <a:ea typeface="+mn-ea"/>
        <a:cs typeface="+mn-cs"/>
        <a:sym typeface="Arial"/>
      </a:defRPr>
    </a:lvl6pPr>
    <a:lvl7pPr indent="1371600" latinLnBrk="0">
      <a:defRPr sz="1400">
        <a:latin typeface="+mn-lt"/>
        <a:ea typeface="+mn-ea"/>
        <a:cs typeface="+mn-cs"/>
        <a:sym typeface="Arial"/>
      </a:defRPr>
    </a:lvl7pPr>
    <a:lvl8pPr indent="1600200" latinLnBrk="0">
      <a:defRPr sz="1400">
        <a:latin typeface="+mn-lt"/>
        <a:ea typeface="+mn-ea"/>
        <a:cs typeface="+mn-cs"/>
        <a:sym typeface="Arial"/>
      </a:defRPr>
    </a:lvl8pPr>
    <a:lvl9pPr indent="1828800" latinLnBrk="0">
      <a:defRPr sz="14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7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1.jpeg"/><Relationship Id="rId4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;p7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" name="Google Shape;16;p7"/>
          <p:cNvSpPr/>
          <p:nvPr/>
        </p:nvSpPr>
        <p:spPr>
          <a:xfrm flipH="1" rot="10800000">
            <a:off x="0" y="6705599"/>
            <a:ext cx="9144000" cy="198117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4" name="Google Shape;17;p7" descr="Google Shape;17;p7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3"/>
          <a:stretch>
            <a:fillRect/>
          </a:stretch>
        </p:blipFill>
        <p:spPr>
          <a:xfrm>
            <a:off x="6553200" y="228600"/>
            <a:ext cx="2057400" cy="635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Google Shape;18;p7" descr="Google Shape;18;p7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3"/>
          <a:stretch>
            <a:fillRect/>
          </a:stretch>
        </p:blipFill>
        <p:spPr>
          <a:xfrm>
            <a:off x="6553200" y="228600"/>
            <a:ext cx="2057400" cy="63500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9" name="Google Shape;19;p7"/>
          <p:cNvGrpSpPr/>
          <p:nvPr/>
        </p:nvGrpSpPr>
        <p:grpSpPr>
          <a:xfrm>
            <a:off x="6146800" y="0"/>
            <a:ext cx="2997200" cy="876301"/>
            <a:chOff x="0" y="0"/>
            <a:chExt cx="2997200" cy="876300"/>
          </a:xfrm>
        </p:grpSpPr>
        <p:sp>
          <p:nvSpPr>
            <p:cNvPr id="6" name="Google Shape;20;p7"/>
            <p:cNvSpPr/>
            <p:nvPr/>
          </p:nvSpPr>
          <p:spPr>
            <a:xfrm>
              <a:off x="0" y="-1"/>
              <a:ext cx="2997200" cy="838201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pic>
          <p:nvPicPr>
            <p:cNvPr id="7" name="Google Shape;21;p7" descr="Google Shape;21;p7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3"/>
            <a:stretch>
              <a:fillRect/>
            </a:stretch>
          </p:blipFill>
          <p:spPr>
            <a:xfrm>
              <a:off x="406399" y="228600"/>
              <a:ext cx="2057401" cy="635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8" name="Google Shape;22;p7"/>
            <p:cNvSpPr/>
            <p:nvPr/>
          </p:nvSpPr>
          <p:spPr>
            <a:xfrm>
              <a:off x="380999" y="190500"/>
              <a:ext cx="2076451" cy="68580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800">
                  <a:solidFill>
                    <a:srgbClr val="FFFFFF"/>
                  </a:solidFill>
                </a:defRPr>
              </a:pPr>
            </a:p>
          </p:txBody>
        </p:sp>
      </p:grpSp>
      <p:pic>
        <p:nvPicPr>
          <p:cNvPr id="10" name="Google Shape;23;p7" descr="Google Shape;23;p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200" y="228600"/>
            <a:ext cx="1920875" cy="6096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Google Shape;25;p8" descr="Google Shape;25;p8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3"/>
          <a:stretch>
            <a:fillRect/>
          </a:stretch>
        </p:blipFill>
        <p:spPr>
          <a:xfrm>
            <a:off x="6553200" y="228600"/>
            <a:ext cx="2057400" cy="63500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5" name="Google Shape;26;p8"/>
          <p:cNvGrpSpPr/>
          <p:nvPr/>
        </p:nvGrpSpPr>
        <p:grpSpPr>
          <a:xfrm>
            <a:off x="6146800" y="0"/>
            <a:ext cx="2997200" cy="876301"/>
            <a:chOff x="0" y="0"/>
            <a:chExt cx="2997200" cy="876300"/>
          </a:xfrm>
        </p:grpSpPr>
        <p:sp>
          <p:nvSpPr>
            <p:cNvPr id="12" name="Google Shape;27;p8"/>
            <p:cNvSpPr/>
            <p:nvPr/>
          </p:nvSpPr>
          <p:spPr>
            <a:xfrm>
              <a:off x="0" y="-1"/>
              <a:ext cx="2997200" cy="838201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pic>
          <p:nvPicPr>
            <p:cNvPr id="13" name="Google Shape;28;p8" descr="Google Shape;28;p8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3"/>
            <a:stretch>
              <a:fillRect/>
            </a:stretch>
          </p:blipFill>
          <p:spPr>
            <a:xfrm>
              <a:off x="406399" y="228600"/>
              <a:ext cx="2057401" cy="635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4" name="Google Shape;29;p8"/>
            <p:cNvSpPr/>
            <p:nvPr/>
          </p:nvSpPr>
          <p:spPr>
            <a:xfrm>
              <a:off x="380999" y="190500"/>
              <a:ext cx="2076451" cy="68580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800">
                  <a:solidFill>
                    <a:srgbClr val="FFFFFF"/>
                  </a:solidFill>
                </a:defRPr>
              </a:pPr>
            </a:p>
          </p:txBody>
        </p:sp>
      </p:grpSp>
      <p:pic>
        <p:nvPicPr>
          <p:cNvPr id="16" name="Google Shape;30;p8" descr="Google Shape;30;p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200" y="228600"/>
            <a:ext cx="1920875" cy="609600"/>
          </a:xfrm>
          <a:prstGeom prst="rect">
            <a:avLst/>
          </a:prstGeom>
          <a:ln w="12700">
            <a:miter lim="400000"/>
          </a:ln>
        </p:spPr>
      </p:pic>
      <p:sp>
        <p:nvSpPr>
          <p:cNvPr id="17" name="Title Text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18" name="Body Level One…"/>
          <p:cNvSpPr txBox="1"/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" name="Slide Number"/>
          <p:cNvSpPr txBox="1"/>
          <p:nvPr>
            <p:ph type="sldNum" sz="quarter" idx="2"/>
          </p:nvPr>
        </p:nvSpPr>
        <p:spPr>
          <a:xfrm>
            <a:off x="8428216" y="6414780"/>
            <a:ext cx="258585" cy="248265"/>
          </a:xfrm>
          <a:prstGeom prst="rect">
            <a:avLst/>
          </a:prstGeom>
          <a:ln w="12700">
            <a:miter lim="400000"/>
          </a:ln>
        </p:spPr>
        <p:txBody>
          <a:bodyPr wrap="none" lIns="45699" tIns="45699" rIns="45699" bIns="45699" anchor="ctr">
            <a:spAutoFit/>
          </a:bodyPr>
          <a:lstStyle>
            <a:lvl1pPr algn="r"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4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0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0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0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0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0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0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0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0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0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457200" marR="0" indent="-3429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963385" marR="0" indent="-391885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>
          <a:srgbClr val="000000"/>
        </a:buClr>
        <a:buSzPts val="32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485900" marR="0" indent="-4572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2034539" marR="0" indent="-548639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>
          <a:srgbClr val="000000"/>
        </a:buClr>
        <a:buSzPts val="32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491739" marR="0" indent="-548639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>
          <a:srgbClr val="000000"/>
        </a:buClr>
        <a:buSzPts val="32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948939" marR="0" indent="-548639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406140" marR="0" indent="-54864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863340" marR="0" indent="-54864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320540" marR="0" indent="-54864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drive.google.com/file/d/1LIvIdqdHDFEGnfzIgEh4L6GFirzsE3US/view" TargetMode="External"/><Relationship Id="rId3" Type="http://schemas.openxmlformats.org/officeDocument/2006/relationships/hyperlink" Target="https://www.youtube.com/" TargetMode="External"/><Relationship Id="rId4" Type="http://schemas.openxmlformats.org/officeDocument/2006/relationships/hyperlink" Target="https://www.geeksforgeeks.org/python-for-machine-learning/?ref=shm" TargetMode="Externa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46;p1"/>
          <p:cNvSpPr txBox="1"/>
          <p:nvPr/>
        </p:nvSpPr>
        <p:spPr>
          <a:xfrm>
            <a:off x="502924" y="6414780"/>
            <a:ext cx="2042152" cy="2482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22CS016</a:t>
            </a:r>
          </a:p>
        </p:txBody>
      </p:sp>
      <p:sp>
        <p:nvSpPr>
          <p:cNvPr id="38" name="Google Shape;47;p1"/>
          <p:cNvSpPr txBox="1"/>
          <p:nvPr>
            <p:ph type="sldNum" sz="quarter" idx="2"/>
          </p:nvPr>
        </p:nvSpPr>
        <p:spPr>
          <a:xfrm>
            <a:off x="8505458" y="6414780"/>
            <a:ext cx="181343" cy="24826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9" name="Google Shape;48;p1"/>
          <p:cNvSpPr txBox="1"/>
          <p:nvPr/>
        </p:nvSpPr>
        <p:spPr>
          <a:xfrm>
            <a:off x="58325" y="1486970"/>
            <a:ext cx="8906053" cy="42820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3099" tIns="33099" rIns="33099" bIns="33099" anchor="ctr">
            <a:spAutoFit/>
          </a:bodyPr>
          <a:lstStyle/>
          <a:p>
            <a:pPr algn="ctr">
              <a:defRPr b="1" sz="3200">
                <a:solidFill>
                  <a:srgbClr val="FF0000"/>
                </a:solidFill>
                <a:latin typeface="Candara"/>
                <a:ea typeface="Candara"/>
                <a:cs typeface="Candara"/>
                <a:sym typeface="Candara"/>
              </a:defRPr>
            </a:pPr>
          </a:p>
          <a:p>
            <a:pPr algn="ctr">
              <a:defRPr b="1" sz="3200">
                <a:solidFill>
                  <a:srgbClr val="FF0000"/>
                </a:solidFill>
                <a:latin typeface="Candara"/>
                <a:ea typeface="Candara"/>
                <a:cs typeface="Candara"/>
                <a:sym typeface="Candara"/>
              </a:defRPr>
            </a:pPr>
            <a:r>
              <a:t>Project Title:</a:t>
            </a:r>
          </a:p>
          <a:p>
            <a:pPr algn="ctr">
              <a:defRPr b="1" sz="3200">
                <a:latin typeface="Candara"/>
                <a:ea typeface="Candara"/>
                <a:cs typeface="Candara"/>
                <a:sym typeface="Candara"/>
              </a:defRPr>
            </a:pPr>
            <a:r>
              <a:t>Loan Eligibility Prediction</a:t>
            </a:r>
          </a:p>
          <a:p>
            <a:pPr algn="ctr">
              <a:defRPr b="1" sz="3200">
                <a:solidFill>
                  <a:srgbClr val="00151A"/>
                </a:solidFill>
              </a:defRPr>
            </a:pPr>
          </a:p>
          <a:p>
            <a:pPr algn="ctr">
              <a:defRPr b="1" sz="3200">
                <a:solidFill>
                  <a:srgbClr val="00151A"/>
                </a:solidFill>
              </a:defRPr>
            </a:pPr>
          </a:p>
          <a:p>
            <a:pPr algn="ctr">
              <a:defRPr b="1" sz="3200">
                <a:solidFill>
                  <a:srgbClr val="FF0000"/>
                </a:solidFill>
                <a:latin typeface="Candara"/>
                <a:ea typeface="Candara"/>
                <a:cs typeface="Candara"/>
                <a:sym typeface="Candara"/>
              </a:defRPr>
            </a:pPr>
            <a:r>
              <a:t>Team Member and Roll No.</a:t>
            </a:r>
          </a:p>
          <a:p>
            <a:pPr algn="ctr">
              <a:defRPr sz="3200">
                <a:solidFill>
                  <a:srgbClr val="00151A"/>
                </a:solidFill>
              </a:defRPr>
            </a:pPr>
            <a:r>
              <a:t>           Chirag Sharma (2210990241)-Leader Birinder Singh(2210990229)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i="1" sz="4800" u="sng"/>
            </a:lvl1pPr>
          </a:lstStyle>
          <a:p>
            <a:pPr/>
            <a:r>
              <a:t>Index</a:t>
            </a:r>
          </a:p>
        </p:txBody>
      </p:sp>
      <p:sp>
        <p:nvSpPr>
          <p:cNvPr id="42" name="Text Placeholder 2"/>
          <p:cNvSpPr txBox="1"/>
          <p:nvPr>
            <p:ph type="body" idx="1"/>
          </p:nvPr>
        </p:nvSpPr>
        <p:spPr>
          <a:xfrm>
            <a:off x="457200" y="838199"/>
            <a:ext cx="8229600" cy="5357329"/>
          </a:xfrm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t>Objective</a:t>
            </a:r>
          </a:p>
          <a:p>
            <a:pPr>
              <a:defRPr b="1"/>
            </a:pPr>
            <a:r>
              <a:t>Introduction</a:t>
            </a:r>
          </a:p>
          <a:p>
            <a:pPr>
              <a:defRPr b="1"/>
            </a:pPr>
            <a:r>
              <a:t>Approach &amp; Technique</a:t>
            </a:r>
          </a:p>
          <a:p>
            <a:pPr>
              <a:defRPr b="1"/>
            </a:pPr>
            <a:r>
              <a:t>Algorithm</a:t>
            </a:r>
          </a:p>
          <a:p>
            <a:pPr>
              <a:defRPr b="1"/>
            </a:pPr>
            <a:r>
              <a:t>Result</a:t>
            </a:r>
          </a:p>
          <a:p>
            <a:pPr>
              <a:defRPr b="1"/>
            </a:pPr>
            <a:r>
              <a:t>Source Code (screenshots)</a:t>
            </a:r>
          </a:p>
          <a:p>
            <a:pPr>
              <a:defRPr b="1"/>
            </a:pPr>
            <a:r>
              <a:t>Conclusion</a:t>
            </a:r>
          </a:p>
          <a:p>
            <a:pPr>
              <a:defRPr b="1"/>
            </a:pPr>
            <a:r>
              <a:t>Reference</a:t>
            </a:r>
          </a:p>
        </p:txBody>
      </p:sp>
      <p:sp>
        <p:nvSpPr>
          <p:cNvPr id="43" name="Date Placeholder 3"/>
          <p:cNvSpPr txBox="1"/>
          <p:nvPr/>
        </p:nvSpPr>
        <p:spPr>
          <a:xfrm>
            <a:off x="502924" y="6414780"/>
            <a:ext cx="2042152" cy="2482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22CS016</a:t>
            </a:r>
          </a:p>
        </p:txBody>
      </p:sp>
      <p:sp>
        <p:nvSpPr>
          <p:cNvPr id="44" name="Slide Number Placeholder 4"/>
          <p:cNvSpPr txBox="1"/>
          <p:nvPr>
            <p:ph type="sldNum" sz="quarter" idx="2"/>
          </p:nvPr>
        </p:nvSpPr>
        <p:spPr>
          <a:xfrm>
            <a:off x="8505458" y="6414780"/>
            <a:ext cx="181343" cy="24826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"/>
          <p:cNvSpPr txBox="1"/>
          <p:nvPr>
            <p:ph type="title"/>
          </p:nvPr>
        </p:nvSpPr>
        <p:spPr>
          <a:xfrm>
            <a:off x="-1" y="0"/>
            <a:ext cx="5988426" cy="838200"/>
          </a:xfrm>
          <a:prstGeom prst="rect">
            <a:avLst/>
          </a:prstGeom>
        </p:spPr>
        <p:txBody>
          <a:bodyPr/>
          <a:lstStyle/>
          <a:p>
            <a:pPr>
              <a:defRPr b="1" i="1" sz="4800" u="sng"/>
            </a:pPr>
            <a:r>
              <a:t>Objective</a:t>
            </a:r>
            <a:r>
              <a:rPr i="0" u="none"/>
              <a:t>   </a:t>
            </a:r>
            <a:r>
              <a:rPr i="0" sz="5400" u="none"/>
              <a:t>    </a:t>
            </a:r>
          </a:p>
        </p:txBody>
      </p:sp>
      <p:sp>
        <p:nvSpPr>
          <p:cNvPr id="47" name="Text Placeholder 2"/>
          <p:cNvSpPr txBox="1"/>
          <p:nvPr>
            <p:ph type="body" idx="1"/>
          </p:nvPr>
        </p:nvSpPr>
        <p:spPr>
          <a:xfrm>
            <a:off x="408689" y="1428941"/>
            <a:ext cx="8507691" cy="5279375"/>
          </a:xfrm>
          <a:prstGeom prst="rect">
            <a:avLst/>
          </a:prstGeom>
        </p:spPr>
        <p:txBody>
          <a:bodyPr/>
          <a:lstStyle/>
          <a:p>
            <a:pPr marL="0" indent="114300">
              <a:lnSpc>
                <a:spcPct val="120000"/>
              </a:lnSpc>
              <a:spcBef>
                <a:spcPts val="1000"/>
              </a:spcBef>
              <a:buSzTx/>
              <a:buNone/>
              <a:defRPr sz="2400">
                <a:latin typeface="Aptos"/>
                <a:ea typeface="Aptos"/>
                <a:cs typeface="Aptos"/>
                <a:sym typeface="Aptos"/>
              </a:defRPr>
            </a:pPr>
            <a:r>
              <a:t>  The primary objective of this project is to develop machine  learning models capable of predicting </a:t>
            </a:r>
            <a:r>
              <a:rPr b="1"/>
              <a:t>whether the candidate’s profile is relevant for Loan Approval or not</a:t>
            </a:r>
            <a:r>
              <a:t>. We aim to develop a model that accurately distinguishes between eligible and ineligible applicants using key features like Marital Status, Education, Applicant Income, Credit History, etc</a:t>
            </a:r>
          </a:p>
        </p:txBody>
      </p:sp>
      <p:sp>
        <p:nvSpPr>
          <p:cNvPr id="48" name="Date Placeholder 3"/>
          <p:cNvSpPr txBox="1"/>
          <p:nvPr/>
        </p:nvSpPr>
        <p:spPr>
          <a:xfrm>
            <a:off x="502924" y="6414780"/>
            <a:ext cx="2042152" cy="2482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22CS016</a:t>
            </a:r>
          </a:p>
        </p:txBody>
      </p:sp>
      <p:sp>
        <p:nvSpPr>
          <p:cNvPr id="49" name="Slide Number Placeholder 4"/>
          <p:cNvSpPr txBox="1"/>
          <p:nvPr>
            <p:ph type="sldNum" sz="quarter" idx="2"/>
          </p:nvPr>
        </p:nvSpPr>
        <p:spPr>
          <a:xfrm>
            <a:off x="8505458" y="6414780"/>
            <a:ext cx="181343" cy="24826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 txBox="1"/>
          <p:nvPr>
            <p:ph type="title"/>
          </p:nvPr>
        </p:nvSpPr>
        <p:spPr>
          <a:xfrm>
            <a:off x="-1" y="0"/>
            <a:ext cx="6454590" cy="838200"/>
          </a:xfrm>
          <a:prstGeom prst="rect">
            <a:avLst/>
          </a:prstGeom>
        </p:spPr>
        <p:txBody>
          <a:bodyPr/>
          <a:lstStyle>
            <a:lvl1pPr>
              <a:defRPr b="1" i="1" sz="4800" u="sng"/>
            </a:lvl1pPr>
          </a:lstStyle>
          <a:p>
            <a:pPr/>
            <a:r>
              <a:t>Introduction</a:t>
            </a:r>
          </a:p>
        </p:txBody>
      </p:sp>
      <p:sp>
        <p:nvSpPr>
          <p:cNvPr id="52" name="Text Placeholder 2"/>
          <p:cNvSpPr txBox="1"/>
          <p:nvPr>
            <p:ph type="body" idx="1"/>
          </p:nvPr>
        </p:nvSpPr>
        <p:spPr>
          <a:xfrm>
            <a:off x="805850" y="605802"/>
            <a:ext cx="7532300" cy="6016537"/>
          </a:xfrm>
          <a:prstGeom prst="rect">
            <a:avLst/>
          </a:prstGeom>
        </p:spPr>
        <p:txBody>
          <a:bodyPr/>
          <a:lstStyle/>
          <a:p>
            <a:pPr marL="0" indent="102869" defTabSz="822959">
              <a:spcBef>
                <a:spcPts val="200"/>
              </a:spcBef>
              <a:buSzTx/>
              <a:buNone/>
              <a:defRPr sz="1619">
                <a:latin typeface="Söhne"/>
                <a:ea typeface="Söhne"/>
                <a:cs typeface="Söhne"/>
                <a:sym typeface="Söhne"/>
              </a:defRPr>
            </a:pPr>
          </a:p>
          <a:p>
            <a:pPr marL="0" indent="102869" defTabSz="822959">
              <a:spcBef>
                <a:spcPts val="200"/>
              </a:spcBef>
              <a:buSzTx/>
              <a:buNone/>
              <a:defRPr sz="2159">
                <a:latin typeface="Aptos"/>
                <a:ea typeface="Aptos"/>
                <a:cs typeface="Aptos"/>
                <a:sym typeface="Aptos"/>
              </a:defRPr>
            </a:pPr>
            <a:r>
              <a:t> </a:t>
            </a:r>
          </a:p>
          <a:p>
            <a:pPr marL="0" indent="102869" defTabSz="822959">
              <a:lnSpc>
                <a:spcPct val="120000"/>
              </a:lnSpc>
              <a:spcBef>
                <a:spcPts val="200"/>
              </a:spcBef>
              <a:buSzTx/>
              <a:buNone/>
              <a:defRPr sz="2159">
                <a:latin typeface="Aptos"/>
                <a:ea typeface="Aptos"/>
                <a:cs typeface="Aptos"/>
                <a:sym typeface="Aptos"/>
              </a:defRPr>
            </a:pPr>
            <a:r>
              <a:t>•  Loan approval is a critical process in the financial industry,   with significant implications for both lenders and borrowers.</a:t>
            </a:r>
          </a:p>
          <a:p>
            <a:pPr marL="0" indent="102869" defTabSz="822959">
              <a:lnSpc>
                <a:spcPct val="120000"/>
              </a:lnSpc>
              <a:spcBef>
                <a:spcPts val="200"/>
              </a:spcBef>
              <a:buSzTx/>
              <a:buNone/>
              <a:defRPr sz="2159">
                <a:latin typeface="Aptos"/>
                <a:ea typeface="Aptos"/>
                <a:cs typeface="Aptos"/>
                <a:sym typeface="Aptos"/>
              </a:defRPr>
            </a:pPr>
            <a:r>
              <a:t>•  However, traditional methods of assessing loan applications are often manual, time-consuming, and prone to errors.</a:t>
            </a:r>
          </a:p>
          <a:p>
            <a:pPr marL="0" indent="102869" defTabSz="822959">
              <a:lnSpc>
                <a:spcPct val="120000"/>
              </a:lnSpc>
              <a:spcBef>
                <a:spcPts val="200"/>
              </a:spcBef>
              <a:buSzTx/>
              <a:buNone/>
              <a:defRPr sz="2159">
                <a:latin typeface="Aptos"/>
                <a:ea typeface="Aptos"/>
                <a:cs typeface="Aptos"/>
                <a:sym typeface="Aptos"/>
              </a:defRPr>
            </a:pPr>
          </a:p>
          <a:p>
            <a:pPr marL="0" indent="102869" defTabSz="822959">
              <a:lnSpc>
                <a:spcPct val="120000"/>
              </a:lnSpc>
              <a:spcBef>
                <a:spcPts val="200"/>
              </a:spcBef>
              <a:buSzTx/>
              <a:buNone/>
              <a:defRPr sz="2159">
                <a:latin typeface="Aptos"/>
                <a:ea typeface="Aptos"/>
                <a:cs typeface="Aptos"/>
                <a:sym typeface="Aptos"/>
              </a:defRPr>
            </a:pPr>
            <a:r>
              <a:t>•  The problem statement revolves around developing automated models that can predict whether a loan application will be approved or rejected.</a:t>
            </a:r>
          </a:p>
          <a:p>
            <a:pPr marL="0" indent="102869" defTabSz="822959">
              <a:lnSpc>
                <a:spcPct val="120000"/>
              </a:lnSpc>
              <a:spcBef>
                <a:spcPts val="200"/>
              </a:spcBef>
              <a:buSzTx/>
              <a:buNone/>
              <a:defRPr sz="2159">
                <a:latin typeface="Aptos"/>
                <a:ea typeface="Aptos"/>
                <a:cs typeface="Aptos"/>
                <a:sym typeface="Aptos"/>
              </a:defRPr>
            </a:pPr>
            <a:r>
              <a:t>•  By leveraging machine learning techniques, we aim to streamline the loan approval process and enhance decision accuracy.</a:t>
            </a:r>
          </a:p>
        </p:txBody>
      </p:sp>
      <p:sp>
        <p:nvSpPr>
          <p:cNvPr id="53" name="Date Placeholder 3"/>
          <p:cNvSpPr txBox="1"/>
          <p:nvPr/>
        </p:nvSpPr>
        <p:spPr>
          <a:xfrm>
            <a:off x="502924" y="6414780"/>
            <a:ext cx="2042152" cy="2482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22CS016</a:t>
            </a:r>
          </a:p>
        </p:txBody>
      </p:sp>
      <p:sp>
        <p:nvSpPr>
          <p:cNvPr id="54" name="Slide Number Placeholder 4"/>
          <p:cNvSpPr txBox="1"/>
          <p:nvPr>
            <p:ph type="sldNum" sz="quarter" idx="2"/>
          </p:nvPr>
        </p:nvSpPr>
        <p:spPr>
          <a:xfrm>
            <a:off x="8505458" y="6414780"/>
            <a:ext cx="181343" cy="24826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Placeholder 2"/>
          <p:cNvSpPr txBox="1"/>
          <p:nvPr>
            <p:ph type="body" idx="1"/>
          </p:nvPr>
        </p:nvSpPr>
        <p:spPr>
          <a:xfrm>
            <a:off x="354561" y="838200"/>
            <a:ext cx="8332239" cy="5883275"/>
          </a:xfrm>
          <a:prstGeom prst="rect">
            <a:avLst/>
          </a:prstGeom>
        </p:spPr>
        <p:txBody>
          <a:bodyPr/>
          <a:lstStyle/>
          <a:p>
            <a:pPr marL="0" indent="114300">
              <a:lnSpc>
                <a:spcPct val="115000"/>
              </a:lnSpc>
              <a:spcBef>
                <a:spcPts val="1000"/>
              </a:spcBef>
              <a:buSzTx/>
              <a:buNone/>
              <a:defRPr b="1" sz="2000" u="sng">
                <a:latin typeface="Aptos"/>
                <a:ea typeface="Aptos"/>
                <a:cs typeface="Aptos"/>
                <a:sym typeface="Aptos"/>
              </a:defRPr>
            </a:pPr>
          </a:p>
          <a:p>
            <a:pPr marL="0" indent="0" defTabSz="457200">
              <a:spcBef>
                <a:spcPts val="0"/>
              </a:spcBef>
              <a:buClrTx/>
              <a:buSzTx/>
              <a:buFontTx/>
              <a:buNone/>
              <a:defRPr sz="2000">
                <a:latin typeface="Aptos"/>
                <a:ea typeface="Aptos"/>
                <a:cs typeface="Aptos"/>
                <a:sym typeface="Aptos"/>
              </a:defRPr>
            </a:pPr>
            <a:r>
              <a:rPr b="1"/>
              <a:t>Data Preprocessing:</a:t>
            </a:r>
            <a:r>
              <a:t>- Before building predictive models, it's essential     to preprocess the dataset to ensure its quality and suitability for analysis.</a:t>
            </a:r>
          </a:p>
          <a:p>
            <a:pPr marL="0" indent="0" defTabSz="457200">
              <a:spcBef>
                <a:spcPts val="0"/>
              </a:spcBef>
              <a:buClrTx/>
              <a:buSzTx/>
              <a:buFontTx/>
              <a:buNone/>
              <a:defRPr sz="2000">
                <a:latin typeface="Aptos"/>
                <a:ea typeface="Aptos"/>
                <a:cs typeface="Aptos"/>
                <a:sym typeface="Aptos"/>
              </a:defRPr>
            </a:pPr>
            <a:r>
              <a:t>The data preprocessing steps undertaken include:</a:t>
            </a:r>
          </a:p>
          <a:p>
            <a:pPr marL="0" indent="0" defTabSz="457200">
              <a:spcBef>
                <a:spcPts val="0"/>
              </a:spcBef>
              <a:buClrTx/>
              <a:buSzTx/>
              <a:buFontTx/>
              <a:buNone/>
              <a:defRPr sz="2000">
                <a:latin typeface="Aptos"/>
                <a:ea typeface="Aptos"/>
                <a:cs typeface="Aptos"/>
                <a:sym typeface="Aptos"/>
              </a:defRPr>
            </a:pPr>
            <a:endParaRPr sz="3200"/>
          </a:p>
          <a:p>
            <a:pPr marL="0" indent="0" defTabSz="457200">
              <a:spcBef>
                <a:spcPts val="0"/>
              </a:spcBef>
              <a:buClrTx/>
              <a:buSzTx/>
              <a:buFontTx/>
              <a:buNone/>
              <a:defRPr sz="2000">
                <a:latin typeface="Aptos"/>
                <a:ea typeface="Aptos"/>
                <a:cs typeface="Aptos"/>
                <a:sym typeface="Aptos"/>
              </a:defRPr>
            </a:pPr>
            <a:r>
              <a:t>Handling Missing Values: Identify and address missing values in the     dataset using techniques such as imputation or removal.</a:t>
            </a:r>
            <a:endParaRPr sz="3200"/>
          </a:p>
          <a:p>
            <a:pPr marL="0" indent="114300" defTabSz="457200">
              <a:spcBef>
                <a:spcPts val="0"/>
              </a:spcBef>
              <a:buSzTx/>
              <a:buNone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1" u="sng">
              <a:latin typeface="Aptos"/>
              <a:ea typeface="Aptos"/>
              <a:cs typeface="Aptos"/>
              <a:sym typeface="Aptos"/>
            </a:endParaRPr>
          </a:p>
          <a:p>
            <a:pPr marL="0" indent="114300">
              <a:lnSpc>
                <a:spcPct val="115000"/>
              </a:lnSpc>
              <a:spcBef>
                <a:spcPts val="1000"/>
              </a:spcBef>
              <a:buSzTx/>
              <a:buNone/>
              <a:defRPr b="1" sz="2000" u="sng">
                <a:latin typeface="Aptos"/>
                <a:ea typeface="Aptos"/>
                <a:cs typeface="Aptos"/>
                <a:sym typeface="Aptos"/>
              </a:defRPr>
            </a:pPr>
            <a:r>
              <a:rPr u="none"/>
              <a:t>Data Visualization Tools:  </a:t>
            </a:r>
            <a:r>
              <a:rPr b="0" u="none"/>
              <a:t>Matplotlib was be employed for data   visualization to gain insights into the dataset distribution and model performance, aiding in model interpretation and validation.</a:t>
            </a:r>
          </a:p>
        </p:txBody>
      </p:sp>
      <p:sp>
        <p:nvSpPr>
          <p:cNvPr id="57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i="1" sz="4000" u="sng"/>
            </a:lvl1pPr>
          </a:lstStyle>
          <a:p>
            <a:pPr/>
            <a:r>
              <a:t>Approach &amp;  Techniques</a:t>
            </a:r>
          </a:p>
        </p:txBody>
      </p:sp>
      <p:sp>
        <p:nvSpPr>
          <p:cNvPr id="58" name="Date Placeholder 3"/>
          <p:cNvSpPr txBox="1"/>
          <p:nvPr/>
        </p:nvSpPr>
        <p:spPr>
          <a:xfrm>
            <a:off x="502924" y="6414780"/>
            <a:ext cx="2042152" cy="2482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22CS016</a:t>
            </a:r>
          </a:p>
        </p:txBody>
      </p:sp>
      <p:sp>
        <p:nvSpPr>
          <p:cNvPr id="59" name="Slide Number Placeholder 4"/>
          <p:cNvSpPr txBox="1"/>
          <p:nvPr>
            <p:ph type="sldNum" sz="quarter" idx="2"/>
          </p:nvPr>
        </p:nvSpPr>
        <p:spPr>
          <a:xfrm>
            <a:off x="8505458" y="6414780"/>
            <a:ext cx="181343" cy="24826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i="1" sz="4800" u="sng"/>
            </a:lvl1pPr>
          </a:lstStyle>
          <a:p>
            <a:pPr/>
            <a:r>
              <a:t>Algorithm</a:t>
            </a:r>
          </a:p>
        </p:txBody>
      </p:sp>
      <p:sp>
        <p:nvSpPr>
          <p:cNvPr id="62" name="Date Placeholder 3"/>
          <p:cNvSpPr txBox="1"/>
          <p:nvPr/>
        </p:nvSpPr>
        <p:spPr>
          <a:xfrm>
            <a:off x="502924" y="6414780"/>
            <a:ext cx="2042152" cy="2482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22CS016</a:t>
            </a:r>
          </a:p>
        </p:txBody>
      </p:sp>
      <p:sp>
        <p:nvSpPr>
          <p:cNvPr id="63" name="Slide Number Placeholder 4"/>
          <p:cNvSpPr txBox="1"/>
          <p:nvPr>
            <p:ph type="sldNum" sz="quarter" idx="2"/>
          </p:nvPr>
        </p:nvSpPr>
        <p:spPr>
          <a:xfrm>
            <a:off x="8505458" y="6414780"/>
            <a:ext cx="181343" cy="24826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4" name="AutoShape 10"/>
          <p:cNvSpPr txBox="1"/>
          <p:nvPr>
            <p:ph type="body" idx="1"/>
          </p:nvPr>
        </p:nvSpPr>
        <p:spPr>
          <a:xfrm>
            <a:off x="457199" y="1255812"/>
            <a:ext cx="8229601" cy="5691675"/>
          </a:xfrm>
          <a:prstGeom prst="rect">
            <a:avLst/>
          </a:prstGeom>
        </p:spPr>
        <p:txBody>
          <a:bodyPr lIns="45719" tIns="45719" rIns="45719" bIns="45719"/>
          <a:lstStyle/>
          <a:p>
            <a:pPr marL="342900" defTabSz="457200">
              <a:spcBef>
                <a:spcPts val="0"/>
              </a:spcBef>
              <a:buClrTx/>
              <a:buSzTx/>
              <a:buFontTx/>
              <a:buNone/>
              <a:defRPr sz="2000">
                <a:solidFill>
                  <a:srgbClr val="0D0D0D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We explore a variety of machine learning algorithms to identify the most suitable models for predicting loan eligibility.</a:t>
            </a:r>
          </a:p>
          <a:p>
            <a:pPr marL="342900" defTabSz="457200">
              <a:spcBef>
                <a:spcPts val="0"/>
              </a:spcBef>
              <a:buClrTx/>
              <a:buSzTx/>
              <a:buFontTx/>
              <a:buNone/>
              <a:defRPr sz="2000">
                <a:solidFill>
                  <a:srgbClr val="0D0D0D"/>
                </a:solidFill>
                <a:latin typeface="Aptos"/>
                <a:ea typeface="Aptos"/>
                <a:cs typeface="Aptos"/>
                <a:sym typeface="Aptos"/>
              </a:defRPr>
            </a:pPr>
          </a:p>
          <a:p>
            <a:pPr marL="342900" defTabSz="457200">
              <a:spcBef>
                <a:spcPts val="0"/>
              </a:spcBef>
              <a:buClrTx/>
              <a:buSzTx/>
              <a:buFontTx/>
              <a:buNone/>
              <a:defRPr sz="2000">
                <a:solidFill>
                  <a:srgbClr val="0D0D0D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The following machine learning algorithms are considered for model building:</a:t>
            </a:r>
          </a:p>
          <a:p>
            <a:pPr lvl="1" marL="581526" indent="-200526" defTabSz="457200">
              <a:spcBef>
                <a:spcPts val="0"/>
              </a:spcBef>
              <a:buClrTx/>
              <a:buSzPct val="100000"/>
              <a:buFontTx/>
              <a:buChar char="•"/>
              <a:defRPr sz="2000">
                <a:solidFill>
                  <a:srgbClr val="0D0D0D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Logistic Regression</a:t>
            </a:r>
          </a:p>
          <a:p>
            <a:pPr lvl="1" marL="581526" indent="-200526" defTabSz="457200">
              <a:spcBef>
                <a:spcPts val="0"/>
              </a:spcBef>
              <a:buClrTx/>
              <a:buSzPct val="100000"/>
              <a:buFontTx/>
              <a:buChar char="•"/>
              <a:defRPr sz="2000">
                <a:solidFill>
                  <a:srgbClr val="0D0D0D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Support Vector Machines (SVM)</a:t>
            </a:r>
          </a:p>
          <a:p>
            <a:pPr lvl="1" marL="581526" indent="-200526" defTabSz="457200">
              <a:spcBef>
                <a:spcPts val="0"/>
              </a:spcBef>
              <a:buClrTx/>
              <a:buSzPct val="100000"/>
              <a:buFontTx/>
              <a:buChar char="•"/>
              <a:defRPr sz="2000">
                <a:solidFill>
                  <a:srgbClr val="0D0D0D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Random Forest</a:t>
            </a:r>
          </a:p>
          <a:p>
            <a:pPr lvl="1" marL="342900" indent="-114300" defTabSz="457200">
              <a:spcBef>
                <a:spcPts val="0"/>
              </a:spcBef>
              <a:buClrTx/>
              <a:buSzTx/>
              <a:buFontTx/>
              <a:buNone/>
              <a:defRPr sz="2000">
                <a:solidFill>
                  <a:srgbClr val="0D0D0D"/>
                </a:solidFill>
                <a:latin typeface="Aptos"/>
                <a:ea typeface="Aptos"/>
                <a:cs typeface="Aptos"/>
                <a:sym typeface="Aptos"/>
              </a:defRPr>
            </a:pPr>
          </a:p>
          <a:p>
            <a:pPr lvl="1" marL="581526" indent="-200526" defTabSz="457200">
              <a:spcBef>
                <a:spcPts val="0"/>
              </a:spcBef>
              <a:buClrTx/>
              <a:buSzPct val="100000"/>
              <a:buFontTx/>
              <a:buChar char="•"/>
              <a:defRPr sz="2000">
                <a:solidFill>
                  <a:srgbClr val="0D0D0D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Each algorithm has its unique characteristics and is suited to different types of problems. We evaluate their performance to determine the best-performing models.</a:t>
            </a:r>
          </a:p>
          <a:p>
            <a:pPr lvl="1" marL="342900" indent="-114300" defTabSz="457200">
              <a:spcBef>
                <a:spcPts val="0"/>
              </a:spcBef>
              <a:buClrTx/>
              <a:buSzTx/>
              <a:buFontTx/>
              <a:buNone/>
              <a:defRPr sz="2000">
                <a:solidFill>
                  <a:srgbClr val="0D0D0D"/>
                </a:solidFill>
                <a:latin typeface="Aptos"/>
                <a:ea typeface="Aptos"/>
                <a:cs typeface="Aptos"/>
                <a:sym typeface="Aptos"/>
              </a:defRPr>
            </a:pPr>
          </a:p>
          <a:p>
            <a:pPr lvl="1" marL="581526" indent="-200526" defTabSz="457200">
              <a:spcBef>
                <a:spcPts val="0"/>
              </a:spcBef>
              <a:buClrTx/>
              <a:buSzPct val="100000"/>
              <a:buFontTx/>
              <a:buChar char="•"/>
              <a:defRPr sz="2000">
                <a:solidFill>
                  <a:srgbClr val="0D0D0D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By leveraging a diverse set of machine learning algorithms, we aim to maximise predictive accuracy.</a:t>
            </a:r>
          </a:p>
          <a:p>
            <a:pPr lvl="1" marL="342900" indent="-114300" defTabSz="457200">
              <a:lnSpc>
                <a:spcPct val="120000"/>
              </a:lnSpc>
              <a:spcBef>
                <a:spcPts val="0"/>
              </a:spcBef>
              <a:buClrTx/>
              <a:buSzTx/>
              <a:buFontTx/>
              <a:buNone/>
              <a:defRPr sz="2000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Screenshot</a:t>
            </a:r>
          </a:p>
        </p:txBody>
      </p:sp>
      <p:sp>
        <p:nvSpPr>
          <p:cNvPr id="67" name="Date Placeholder 3"/>
          <p:cNvSpPr txBox="1"/>
          <p:nvPr/>
        </p:nvSpPr>
        <p:spPr>
          <a:xfrm>
            <a:off x="502924" y="6414780"/>
            <a:ext cx="2042152" cy="2482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22CS016</a:t>
            </a:r>
          </a:p>
        </p:txBody>
      </p:sp>
      <p:sp>
        <p:nvSpPr>
          <p:cNvPr id="68" name="Slide Number Placeholder 4"/>
          <p:cNvSpPr txBox="1"/>
          <p:nvPr>
            <p:ph type="sldNum" sz="quarter" idx="2"/>
          </p:nvPr>
        </p:nvSpPr>
        <p:spPr>
          <a:xfrm>
            <a:off x="8505458" y="6414780"/>
            <a:ext cx="181343" cy="24826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69" name="Screenshot 2024-05-15 at 2.51.42 PM.png" descr="Screenshot 2024-05-15 at 2.51.42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8515" y="1156445"/>
            <a:ext cx="7946970" cy="454511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pPr>
              <a:defRPr b="1" i="1" u="sng"/>
            </a:pPr>
            <a:r>
              <a:rPr b="0" i="0" u="none"/>
              <a:t>Screenshot</a:t>
            </a:r>
          </a:p>
        </p:txBody>
      </p:sp>
      <p:sp>
        <p:nvSpPr>
          <p:cNvPr id="72" name="Date Placeholder 3"/>
          <p:cNvSpPr txBox="1"/>
          <p:nvPr/>
        </p:nvSpPr>
        <p:spPr>
          <a:xfrm>
            <a:off x="502924" y="6414780"/>
            <a:ext cx="2042152" cy="2482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22CS016</a:t>
            </a:r>
          </a:p>
        </p:txBody>
      </p:sp>
      <p:sp>
        <p:nvSpPr>
          <p:cNvPr id="73" name="Slide Number Placeholder 4"/>
          <p:cNvSpPr txBox="1"/>
          <p:nvPr>
            <p:ph type="sldNum" sz="quarter" idx="2"/>
          </p:nvPr>
        </p:nvSpPr>
        <p:spPr>
          <a:xfrm>
            <a:off x="8505458" y="6414780"/>
            <a:ext cx="181343" cy="24826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74" name="Screenshot 2024-05-15 at 1.14.11 PM.png" descr="Screenshot 2024-05-15 at 1.14.11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21082" y="950842"/>
            <a:ext cx="7101836" cy="535129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creensho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Screenshot</a:t>
            </a:r>
          </a:p>
        </p:txBody>
      </p:sp>
      <p:sp>
        <p:nvSpPr>
          <p:cNvPr id="77" name="Double-click to edit"/>
          <p:cNvSpPr txBox="1"/>
          <p:nvPr>
            <p:ph type="body" sz="quarter" idx="1"/>
          </p:nvPr>
        </p:nvSpPr>
        <p:spPr>
          <a:xfrm>
            <a:off x="2682034" y="2570431"/>
            <a:ext cx="3779932" cy="1717138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8" name="Slide Number"/>
          <p:cNvSpPr txBox="1"/>
          <p:nvPr>
            <p:ph type="sldNum" sz="quarter" idx="2"/>
          </p:nvPr>
        </p:nvSpPr>
        <p:spPr>
          <a:xfrm>
            <a:off x="8505458" y="6414780"/>
            <a:ext cx="181343" cy="24826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79" name="Screenshot 2024-05-15 at 8.32.47 PM.png" descr="Screenshot 2024-05-15 at 8.32.47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9404" y="1277721"/>
            <a:ext cx="9144001" cy="498835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sul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500"/>
            </a:lvl1pPr>
          </a:lstStyle>
          <a:p>
            <a:pPr/>
            <a:r>
              <a:t>Result</a:t>
            </a:r>
          </a:p>
        </p:txBody>
      </p:sp>
      <p:sp>
        <p:nvSpPr>
          <p:cNvPr id="82" name="Double-click to edit"/>
          <p:cNvSpPr txBox="1"/>
          <p:nvPr>
            <p:ph type="body" sz="quarter" idx="1"/>
          </p:nvPr>
        </p:nvSpPr>
        <p:spPr>
          <a:xfrm>
            <a:off x="2343523" y="2637185"/>
            <a:ext cx="4456954" cy="229483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3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84" name="Screenshot 2024-05-15 at 2.43.44 PM.png" descr="Screenshot 2024-05-15 at 2.43.44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8196" y="1254948"/>
            <a:ext cx="8418611" cy="47147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500"/>
            </a:lvl1pPr>
          </a:lstStyle>
          <a:p>
            <a:pPr/>
            <a:r>
              <a:t>Conclusion</a:t>
            </a:r>
          </a:p>
        </p:txBody>
      </p:sp>
      <p:sp>
        <p:nvSpPr>
          <p:cNvPr id="87" name="Text Placeholder 2"/>
          <p:cNvSpPr txBox="1"/>
          <p:nvPr>
            <p:ph type="body" idx="1"/>
          </p:nvPr>
        </p:nvSpPr>
        <p:spPr>
          <a:xfrm>
            <a:off x="457200" y="1057803"/>
            <a:ext cx="8229600" cy="5137374"/>
          </a:xfrm>
          <a:prstGeom prst="rect">
            <a:avLst/>
          </a:prstGeom>
        </p:spPr>
        <p:txBody>
          <a:bodyPr/>
          <a:lstStyle/>
          <a:p>
            <a:pPr marL="0" indent="0" defTabSz="859536">
              <a:lnSpc>
                <a:spcPct val="120000"/>
              </a:lnSpc>
              <a:spcBef>
                <a:spcPts val="200"/>
              </a:spcBef>
              <a:buClrTx/>
              <a:buSzTx/>
              <a:buFontTx/>
              <a:buNone/>
              <a:defRPr sz="2256">
                <a:latin typeface="Aptos"/>
                <a:ea typeface="Aptos"/>
                <a:cs typeface="Aptos"/>
                <a:sym typeface="Aptos"/>
              </a:defRPr>
            </a:pPr>
            <a:r>
              <a:t>In conclusion, our exploration into loan eligibility prediction using machine learning techniques has provided valuable insights into the predictive modelling process. Moving forward, there are several potential next steps to consider:</a:t>
            </a:r>
          </a:p>
          <a:p>
            <a:pPr marL="0" indent="0" defTabSz="859536">
              <a:lnSpc>
                <a:spcPct val="120000"/>
              </a:lnSpc>
              <a:spcBef>
                <a:spcPts val="200"/>
              </a:spcBef>
              <a:buClrTx/>
              <a:buSzTx/>
              <a:buFontTx/>
              <a:buNone/>
              <a:defRPr sz="2256">
                <a:latin typeface="Aptos"/>
                <a:ea typeface="Aptos"/>
                <a:cs typeface="Aptos"/>
                <a:sym typeface="Aptos"/>
              </a:defRPr>
            </a:pPr>
          </a:p>
          <a:p>
            <a:pPr marL="429768" indent="-322325" defTabSz="859536">
              <a:lnSpc>
                <a:spcPct val="120000"/>
              </a:lnSpc>
              <a:spcBef>
                <a:spcPts val="200"/>
              </a:spcBef>
              <a:buSzPts val="2200"/>
              <a:defRPr sz="2256">
                <a:latin typeface="Aptos"/>
                <a:ea typeface="Aptos"/>
                <a:cs typeface="Aptos"/>
                <a:sym typeface="Aptos"/>
              </a:defRPr>
            </a:pPr>
            <a:r>
              <a:t>Deployment of Predictive Models: Implement the best-performing model(s) into production systems for real-time loan eligibility prediction.</a:t>
            </a:r>
          </a:p>
          <a:p>
            <a:pPr marL="429768" indent="-322325" defTabSz="859536">
              <a:lnSpc>
                <a:spcPct val="120000"/>
              </a:lnSpc>
              <a:spcBef>
                <a:spcPts val="200"/>
              </a:spcBef>
              <a:buSzPts val="2200"/>
              <a:defRPr sz="2256">
                <a:latin typeface="Aptos"/>
                <a:ea typeface="Aptos"/>
                <a:cs typeface="Aptos"/>
                <a:sym typeface="Aptos"/>
              </a:defRPr>
            </a:pPr>
            <a:r>
              <a:t>Continuous Model Monitoring and Updates: Regularly monitor model performance and update models as new data becomes available to maintain accuracy and relevance.</a:t>
            </a:r>
          </a:p>
        </p:txBody>
      </p:sp>
      <p:sp>
        <p:nvSpPr>
          <p:cNvPr id="88" name="Date Placeholder 3"/>
          <p:cNvSpPr txBox="1"/>
          <p:nvPr/>
        </p:nvSpPr>
        <p:spPr>
          <a:xfrm>
            <a:off x="502924" y="6414780"/>
            <a:ext cx="2042152" cy="2482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22CS016</a:t>
            </a:r>
          </a:p>
        </p:txBody>
      </p:sp>
      <p:sp>
        <p:nvSpPr>
          <p:cNvPr id="89" name="Slide Number Placeholder 4"/>
          <p:cNvSpPr txBox="1"/>
          <p:nvPr>
            <p:ph type="sldNum" sz="quarter" idx="2"/>
          </p:nvPr>
        </p:nvSpPr>
        <p:spPr>
          <a:xfrm>
            <a:off x="8428216" y="6414780"/>
            <a:ext cx="258584" cy="24826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500"/>
            </a:lvl1pPr>
          </a:lstStyle>
          <a:p>
            <a:pPr/>
            <a:r>
              <a:t>Reference</a:t>
            </a:r>
          </a:p>
        </p:txBody>
      </p:sp>
      <p:sp>
        <p:nvSpPr>
          <p:cNvPr id="92" name="Text Placeholder 2"/>
          <p:cNvSpPr txBox="1"/>
          <p:nvPr>
            <p:ph type="body" idx="1"/>
          </p:nvPr>
        </p:nvSpPr>
        <p:spPr>
          <a:xfrm>
            <a:off x="342900" y="1166018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15000"/>
              </a:lnSpc>
              <a:spcBef>
                <a:spcPts val="1000"/>
              </a:spcBef>
              <a:buSzPts val="1800"/>
              <a:defRPr sz="1800" u="sng">
                <a:solidFill>
                  <a:srgbClr val="0000FF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rPr>
                <a:uFill>
                  <a:solidFill>
                    <a:srgbClr val="0000FF"/>
                  </a:solidFill>
                </a:uFill>
                <a:hlinkClick r:id="rId2" invalidUrl="" action="" tgtFrame="" tooltip="" history="1" highlightClick="0" endSnd="0"/>
              </a:rPr>
              <a:t>https://drive.google.com/file/d/1LIvIdqdHDFEGnfzIgEh4L6GFirzsE3US/view</a:t>
            </a:r>
            <a:r>
              <a:rPr>
                <a:solidFill>
                  <a:srgbClr val="00B0F0"/>
                </a:solidFill>
              </a:rPr>
              <a:t>-  </a:t>
            </a:r>
            <a:r>
              <a:rPr>
                <a:solidFill>
                  <a:srgbClr val="000000"/>
                </a:solidFill>
              </a:rPr>
              <a:t>(FOR  THE DATASET)</a:t>
            </a:r>
          </a:p>
          <a:p>
            <a:pPr>
              <a:lnSpc>
                <a:spcPct val="115000"/>
              </a:lnSpc>
              <a:spcBef>
                <a:spcPts val="1000"/>
              </a:spcBef>
              <a:buSzPts val="1800"/>
              <a:defRPr sz="1800" u="sng">
                <a:solidFill>
                  <a:srgbClr val="0000FF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rPr>
                <a:uFill>
                  <a:solidFill>
                    <a:srgbClr val="0000FF"/>
                  </a:solidFill>
                </a:uFill>
                <a:hlinkClick r:id="rId3" invalidUrl="" action="" tgtFrame="" tooltip="" history="1" highlightClick="0" endSnd="0"/>
              </a:rPr>
              <a:t>https://www.youtube.com/</a:t>
            </a:r>
          </a:p>
          <a:p>
            <a:pPr>
              <a:lnSpc>
                <a:spcPct val="115000"/>
              </a:lnSpc>
              <a:spcBef>
                <a:spcPts val="1000"/>
              </a:spcBef>
              <a:buSzPts val="1800"/>
              <a:defRPr sz="1800" u="sng">
                <a:solidFill>
                  <a:srgbClr val="0000FF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rPr>
                <a:uFill>
                  <a:solidFill>
                    <a:srgbClr val="0000FF"/>
                  </a:solidFill>
                </a:uFill>
                <a:hlinkClick r:id="rId4" invalidUrl="" action="" tgtFrame="" tooltip="" history="1" highlightClick="0" endSnd="0"/>
              </a:rPr>
              <a:t>https://www.geeksforgeeks.org/python-for-machine-learning/?ref=shm</a:t>
            </a:r>
          </a:p>
        </p:txBody>
      </p:sp>
      <p:sp>
        <p:nvSpPr>
          <p:cNvPr id="93" name="Date Placeholder 3"/>
          <p:cNvSpPr txBox="1"/>
          <p:nvPr/>
        </p:nvSpPr>
        <p:spPr>
          <a:xfrm>
            <a:off x="502924" y="6414780"/>
            <a:ext cx="2042152" cy="2482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22CS016</a:t>
            </a:r>
          </a:p>
        </p:txBody>
      </p:sp>
      <p:sp>
        <p:nvSpPr>
          <p:cNvPr id="94" name="Slide Number Placeholder 4"/>
          <p:cNvSpPr txBox="1"/>
          <p:nvPr>
            <p:ph type="sldNum" sz="quarter" idx="2"/>
          </p:nvPr>
        </p:nvSpPr>
        <p:spPr>
          <a:xfrm>
            <a:off x="8428216" y="6414780"/>
            <a:ext cx="258584" cy="24826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 Placeholder 2"/>
          <p:cNvSpPr txBox="1"/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7" name="Date Placeholder 3"/>
          <p:cNvSpPr txBox="1"/>
          <p:nvPr/>
        </p:nvSpPr>
        <p:spPr>
          <a:xfrm>
            <a:off x="502924" y="6414780"/>
            <a:ext cx="2042152" cy="2482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22CS016</a:t>
            </a:r>
          </a:p>
        </p:txBody>
      </p:sp>
      <p:sp>
        <p:nvSpPr>
          <p:cNvPr id="98" name="Slide Number Placeholder 4"/>
          <p:cNvSpPr txBox="1"/>
          <p:nvPr>
            <p:ph type="sldNum" sz="quarter" idx="2"/>
          </p:nvPr>
        </p:nvSpPr>
        <p:spPr>
          <a:xfrm>
            <a:off x="8428216" y="6414780"/>
            <a:ext cx="258584" cy="24826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99" name="TextBox 10"/>
          <p:cNvSpPr txBox="1"/>
          <p:nvPr/>
        </p:nvSpPr>
        <p:spPr>
          <a:xfrm>
            <a:off x="2082455" y="2488456"/>
            <a:ext cx="4627920" cy="11029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7200"/>
            </a:lvl1pPr>
          </a:lstStyle>
          <a:p>
            <a:pPr/>
            <a:r>
              <a:t>Thank you!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